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8" r:id="rId6"/>
    <p:sldId id="259" r:id="rId7"/>
    <p:sldId id="272" r:id="rId8"/>
    <p:sldId id="260" r:id="rId9"/>
    <p:sldId id="263" r:id="rId10"/>
    <p:sldId id="268" r:id="rId11"/>
    <p:sldId id="266" r:id="rId12"/>
    <p:sldId id="269" r:id="rId13"/>
    <p:sldId id="267" r:id="rId14"/>
    <p:sldId id="265"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04"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0T20:16:32.990"/>
    </inkml:context>
    <inkml:brush xml:id="br0">
      <inkml:brushProperty name="width" value="0.1" units="cm"/>
      <inkml:brushProperty name="height" value="0.1" units="cm"/>
      <inkml:brushProperty name="color" value="#FF0066"/>
    </inkml:brush>
  </inkml:definitions>
  <inkml:trace contextRef="#ctx0" brushRef="#br0">4118 307 24575,'-74'-21'0,"-89"-12"0,97 21 0,-242-43 0,-183-37 0,135 24 0,254 56 0,-159-1 0,-460 16 0,659 1 0,0 3 0,1 3 0,-115 33 0,141-31 0,-1 1 0,-33 18 0,-44 17 0,-246 103 0,292-120 0,33-14 0,1 2 0,1 2 0,-48 39 0,57-42 0,1 1 0,0 0 0,1 2 0,2 0 0,0 2 0,1 0 0,1 1 0,-23 43 0,-81 232 0,113-271 0,0 0 0,2 1 0,1 0 0,-2 47 0,8 122 0,3-73 0,-4-93 0,3 0 0,0-1 0,2 0 0,1 0 0,2 0 0,1 0 0,1-1 0,24 47 0,9 27 0,-30-69 0,2-1 0,27 48 0,-21-47 0,2-1 0,1-2 0,2 0 0,42 40 0,-41-51 0,0-1 0,2-1 0,0-2 0,46 21 0,-21-11 0,-37-19 0,1 0 0,0-2 0,1 0 0,30 5 0,79 6 0,-4-1 0,-37 0 0,137 31 0,-109-23 0,6 2 0,-60-9 0,118 37 0,-144-43 0,62 9 0,-66-15 0,-1 1 0,0 2 0,32 11 0,193 76 0,-196-75 0,100 19 0,15 4 0,-145-35 0,0-1 0,0-2 0,47 4 0,89-7 0,-124-3 0,-7 3 0,1 1 0,34 8 0,-19-3 0,27 4 0,-12-1 0,118 4 0,1457-17 0,-1612 1 0,1 0 0,-2-3 0,1 0 0,0-1 0,-1-2 0,0-1 0,0-1 0,41-20 0,-31 9 0,0-2 0,-1-2 0,-1-1 0,62-59 0,-42 31 0,173-176 0,-217 214 0,0 1 0,-1-2 0,-1 0 0,0 0 0,-1 0 0,-1-1 0,0 0 0,-1-1 0,-1 1 0,-1-1 0,-1 0 0,0 0 0,-1 0 0,-1-1 0,-2-25 0,-2 8 0,-1 0 0,-2 1 0,-1-1 0,-2 1 0,-2 0 0,-27-61 0,-3-1 0,25 55 0,-1 2 0,-3 0 0,-40-63 0,-72-74 0,109 152 0,0 1 0,-50-38 0,42 37 0,-13-8 0,-89-50 0,53 36 0,-248-162 0,80 46 0,213 142 0,0 1 0,-54-21 0,53 25 0,0-1 0,-55-36 0,46 24 0,-51-25 0,55 33 0,1-2 0,-40-31 0,29 18 0,35 26 0,0-2 0,0 0 0,-25-26 0,-6-14-1365,24 27-5461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59FD6-4FAE-842C-DD9B-4F1D9348BC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D87246-DF6D-1D00-C96F-C307580067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790E5F-ABAE-4AD0-FD1C-37B9B03FED68}"/>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49919D36-33E3-8A8C-FD0B-D715704591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C8114-1A59-2925-7DB0-9D7388127FE1}"/>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2517548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31841-AC8A-B43E-7159-2AB3C48155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3F04E7-403B-752B-2804-90574331A6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35136F-FDDC-D278-04D1-9FFE811557B6}"/>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26AB5ABA-D8CA-990F-7A52-A02B762403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1F801B-64DD-CE79-738E-0DEA5B58D7E9}"/>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1121513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8FBE0-7CC5-4B55-2832-11D2C6537D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031858-BE7A-A895-8B84-558964C25E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16D9B-281F-A4C1-A4CE-D50AFD592915}"/>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27787702-0972-4839-DAA6-F82BFC8A0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D6554F-100B-F266-13BD-7532E31828D2}"/>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422883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B83A-26C0-00F2-7A89-259BA2849C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69CC01-2CC1-9DA2-491D-B4138CA997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741CEF-1E30-EA0E-D868-B006D1E3BB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1155C0-13AA-D5CE-3767-BB55E56F961D}"/>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6" name="Footer Placeholder 5">
            <a:extLst>
              <a:ext uri="{FF2B5EF4-FFF2-40B4-BE49-F238E27FC236}">
                <a16:creationId xmlns:a16="http://schemas.microsoft.com/office/drawing/2014/main" id="{28459D2A-B581-1442-A430-24DE4D396E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5BF2BD-0343-BE27-09BD-01ED11BDC76B}"/>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843379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7D9F-11AA-A83D-9E99-D96B34CE3F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857ACF-30DF-E8DC-6EE3-B6FEEE8B55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2863EF-9C59-FE23-04B4-B348C33184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B4E418-33C2-0427-4AAC-C1743A7FB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35A964-724D-6CC4-D86C-879840FDC0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A2ED36-6AD4-756F-8362-6383F4D4E04B}"/>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8" name="Footer Placeholder 7">
            <a:extLst>
              <a:ext uri="{FF2B5EF4-FFF2-40B4-BE49-F238E27FC236}">
                <a16:creationId xmlns:a16="http://schemas.microsoft.com/office/drawing/2014/main" id="{D4F4739C-3DF4-E3AB-7F8C-DFBB0217A93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B2CF8F-D088-5C01-F6DE-1AB89B20AB90}"/>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1648168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B434-F31C-0F90-79B0-7CCE6CAD7D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F4B4B5-1D68-4DD3-3FF1-08CB064F0001}"/>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4" name="Footer Placeholder 3">
            <a:extLst>
              <a:ext uri="{FF2B5EF4-FFF2-40B4-BE49-F238E27FC236}">
                <a16:creationId xmlns:a16="http://schemas.microsoft.com/office/drawing/2014/main" id="{6B62641B-DE6C-B2DB-434E-6E5EEFAF55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9EB259-CE2D-2903-B9F1-199A75BF8AD9}"/>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1039488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17C649-28D5-35B6-0770-F7FD6DE3DF49}"/>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3" name="Footer Placeholder 2">
            <a:extLst>
              <a:ext uri="{FF2B5EF4-FFF2-40B4-BE49-F238E27FC236}">
                <a16:creationId xmlns:a16="http://schemas.microsoft.com/office/drawing/2014/main" id="{022A6F0B-A5E4-9F2A-A314-5BF12BF0DC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BB201B-0FB0-8D8B-C8D7-8B34F1645FF6}"/>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4100347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64775-6A95-BEA7-956A-2EB5176413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5414AA-7C3A-C52E-0BF1-F393B10DAA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216029-FDD0-C56D-A4AB-73E21CED5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574F58-6271-7EAA-6C01-600E7A9D02E9}"/>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6" name="Footer Placeholder 5">
            <a:extLst>
              <a:ext uri="{FF2B5EF4-FFF2-40B4-BE49-F238E27FC236}">
                <a16:creationId xmlns:a16="http://schemas.microsoft.com/office/drawing/2014/main" id="{AD578D4A-673D-5ACD-4AAA-BB2B0A600E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BC4A85-F336-DE13-0704-6205C977FAF3}"/>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981074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2DD47-0088-44BE-FA1D-10FD7785F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C6E13A-D3A7-F770-78FB-4B82CDAE9C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4EAA59-E410-4D94-8DE6-7C6023EF5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A8C9B2-5F83-D5EF-7D3A-5B93BE07B676}"/>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6" name="Footer Placeholder 5">
            <a:extLst>
              <a:ext uri="{FF2B5EF4-FFF2-40B4-BE49-F238E27FC236}">
                <a16:creationId xmlns:a16="http://schemas.microsoft.com/office/drawing/2014/main" id="{0123B8D9-6F38-4FAD-6B6A-C712710E38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B3532C-CAD4-4978-582C-09EA41743393}"/>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4236565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90148-3260-1C73-5B41-DDC36329778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69DCF-0B5E-D31A-1834-D0CEA4B104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7E213A-A63E-F069-D8DD-1E22CDCA4749}"/>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C646501C-D631-F08D-4C36-8E7CCC840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A496B-207B-6823-69F0-139323434C8B}"/>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233590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CF429E-0EA3-0FDF-41C7-6CA20E4611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0485DC-4250-0EE6-EB48-1B1E847B31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C9FC25-A778-45E8-DEDD-8122D71747A1}"/>
              </a:ext>
            </a:extLst>
          </p:cNvPr>
          <p:cNvSpPr>
            <a:spLocks noGrp="1"/>
          </p:cNvSpPr>
          <p:nvPr>
            <p:ph type="dt" sz="half" idx="10"/>
          </p:nvPr>
        </p:nvSpPr>
        <p:spPr/>
        <p:txBody>
          <a:body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A7447E39-EF3D-71F2-B321-A5555A6DE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F7085-26ED-CC57-B38F-399396375F86}"/>
              </a:ext>
            </a:extLst>
          </p:cNvPr>
          <p:cNvSpPr>
            <a:spLocks noGrp="1"/>
          </p:cNvSpPr>
          <p:nvPr>
            <p:ph type="sldNum" sz="quarter" idx="12"/>
          </p:nvPr>
        </p:nvSpPr>
        <p:spPr/>
        <p:txBody>
          <a:bodyPr/>
          <a:lstStyle/>
          <a:p>
            <a:fld id="{C05854D5-0B40-4C60-8A35-CDC1567D1332}" type="slidenum">
              <a:rPr lang="en-IN" smtClean="0"/>
              <a:t>‹#›</a:t>
            </a:fld>
            <a:endParaRPr lang="en-IN"/>
          </a:p>
        </p:txBody>
      </p:sp>
    </p:spTree>
    <p:extLst>
      <p:ext uri="{BB962C8B-B14F-4D97-AF65-F5344CB8AC3E}">
        <p14:creationId xmlns:p14="http://schemas.microsoft.com/office/powerpoint/2010/main" val="1455132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C7DE1A-6FC6-BA60-EC8C-EEF080ADD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753600-4646-2AF4-FE84-668333247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6179D2-05C8-F6E4-24F9-0F5FCCDB5B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9869A8-8B11-4E79-A5CB-2C8E417FDF17}" type="datetimeFigureOut">
              <a:rPr lang="en-IN" smtClean="0"/>
              <a:t>11-12-2024</a:t>
            </a:fld>
            <a:endParaRPr lang="en-IN"/>
          </a:p>
        </p:txBody>
      </p:sp>
      <p:sp>
        <p:nvSpPr>
          <p:cNvPr id="5" name="Footer Placeholder 4">
            <a:extLst>
              <a:ext uri="{FF2B5EF4-FFF2-40B4-BE49-F238E27FC236}">
                <a16:creationId xmlns:a16="http://schemas.microsoft.com/office/drawing/2014/main" id="{1E722662-D888-4C7B-2BE2-0B026B73D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3D49C62-5EEB-892A-1D3D-1B070E30BE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5854D5-0B40-4C60-8A35-CDC1567D1332}" type="slidenum">
              <a:rPr lang="en-IN" smtClean="0"/>
              <a:t>‹#›</a:t>
            </a:fld>
            <a:endParaRPr lang="en-IN"/>
          </a:p>
        </p:txBody>
      </p:sp>
    </p:spTree>
    <p:extLst>
      <p:ext uri="{BB962C8B-B14F-4D97-AF65-F5344CB8AC3E}">
        <p14:creationId xmlns:p14="http://schemas.microsoft.com/office/powerpoint/2010/main" val="1553566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F1F0AB-D77A-5873-348A-DAE781D05F9E}"/>
              </a:ext>
            </a:extLst>
          </p:cNvPr>
          <p:cNvSpPr>
            <a:spLocks noGrp="1"/>
          </p:cNvSpPr>
          <p:nvPr>
            <p:ph type="ctrTitle"/>
          </p:nvPr>
        </p:nvSpPr>
        <p:spPr>
          <a:xfrm>
            <a:off x="6194716" y="2775857"/>
            <a:ext cx="5334930" cy="968266"/>
          </a:xfrm>
        </p:spPr>
        <p:txBody>
          <a:bodyPr>
            <a:normAutofit/>
          </a:bodyPr>
          <a:lstStyle/>
          <a:p>
            <a:r>
              <a:rPr lang="en-US" dirty="0"/>
              <a:t>Microsoft Intune</a:t>
            </a:r>
            <a:endParaRPr lang="en-IN" dirty="0"/>
          </a:p>
        </p:txBody>
      </p:sp>
      <p:sp>
        <p:nvSpPr>
          <p:cNvPr id="1033" name="Freeform: Shape 1032">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037" name="Freeform: Shape 1036">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8">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041" name="Freeform: Shape 1040">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1026" name="Picture 2" descr="Microsoft Intune color icon in PNG, SVG">
            <a:extLst>
              <a:ext uri="{FF2B5EF4-FFF2-40B4-BE49-F238E27FC236}">
                <a16:creationId xmlns:a16="http://schemas.microsoft.com/office/drawing/2014/main" id="{8363E5AF-3BB0-8A14-4168-9F37A780B9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2"/>
          <a:stretch/>
        </p:blipFill>
        <p:spPr bwMode="auto">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1043" name="Freeform: Shape 1042">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479243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of modern workplace technology trends.">
            <a:extLst>
              <a:ext uri="{FF2B5EF4-FFF2-40B4-BE49-F238E27FC236}">
                <a16:creationId xmlns:a16="http://schemas.microsoft.com/office/drawing/2014/main" id="{1DC43714-09F5-20CB-3894-7C96ACB0AD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030" y="127452"/>
            <a:ext cx="11155898" cy="498883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330F0AE-75A1-D1E4-4FEC-9F8E51A2436B}"/>
              </a:ext>
            </a:extLst>
          </p:cNvPr>
          <p:cNvSpPr txBox="1"/>
          <p:nvPr/>
        </p:nvSpPr>
        <p:spPr>
          <a:xfrm>
            <a:off x="1358806" y="5454019"/>
            <a:ext cx="9730345"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As an IT admin or business decision maker, you must find modern methods and technologies to successfully protect your organization against digital threats while maintaining productivity. You can start by implementing services and tools to protect the digital devices, apps, and data, or endpoints, that the members of your organization need to be productive.</a:t>
            </a:r>
            <a:endParaRPr lang="en-IN" dirty="0"/>
          </a:p>
        </p:txBody>
      </p:sp>
    </p:spTree>
    <p:extLst>
      <p:ext uri="{BB962C8B-B14F-4D97-AF65-F5344CB8AC3E}">
        <p14:creationId xmlns:p14="http://schemas.microsoft.com/office/powerpoint/2010/main" val="389257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0374E-C857-4662-18D0-8DFAB30FE693}"/>
              </a:ext>
            </a:extLst>
          </p:cNvPr>
          <p:cNvSpPr>
            <a:spLocks noGrp="1"/>
          </p:cNvSpPr>
          <p:nvPr>
            <p:ph type="title"/>
          </p:nvPr>
        </p:nvSpPr>
        <p:spPr>
          <a:xfrm>
            <a:off x="2133599" y="-87085"/>
            <a:ext cx="10515600" cy="1325563"/>
          </a:xfrm>
        </p:spPr>
        <p:txBody>
          <a:bodyPr/>
          <a:lstStyle/>
          <a:p>
            <a:r>
              <a:rPr lang="en-US" dirty="0"/>
              <a:t>Why Endpoint/Device Protection?</a:t>
            </a:r>
            <a:endParaRPr lang="en-IN" dirty="0"/>
          </a:p>
        </p:txBody>
      </p:sp>
      <p:pic>
        <p:nvPicPr>
          <p:cNvPr id="5122" name="Picture 2" descr="What is MITRE ATT&amp;CK and How is It Used For Understanding Attack Methods? -  zenarmor.com">
            <a:extLst>
              <a:ext uri="{FF2B5EF4-FFF2-40B4-BE49-F238E27FC236}">
                <a16:creationId xmlns:a16="http://schemas.microsoft.com/office/drawing/2014/main" id="{BE71790C-B791-9C29-2CCA-A6CF2F3969A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7412" y="1238478"/>
            <a:ext cx="11117176" cy="402692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BFF96E62-B5CE-BB90-A2BA-94287A1FC675}"/>
              </a:ext>
            </a:extLst>
          </p:cNvPr>
          <p:cNvCxnSpPr/>
          <p:nvPr/>
        </p:nvCxnSpPr>
        <p:spPr>
          <a:xfrm>
            <a:off x="5366657" y="2721429"/>
            <a:ext cx="0" cy="2275114"/>
          </a:xfrm>
          <a:prstGeom prst="line">
            <a:avLst/>
          </a:prstGeom>
          <a:ln w="7620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D7D063A0-BE54-4B7F-7520-68D073DF65FC}"/>
              </a:ext>
            </a:extLst>
          </p:cNvPr>
          <p:cNvSpPr txBox="1"/>
          <p:nvPr/>
        </p:nvSpPr>
        <p:spPr>
          <a:xfrm>
            <a:off x="3102428" y="5781228"/>
            <a:ext cx="5453743" cy="646331"/>
          </a:xfrm>
          <a:prstGeom prst="rect">
            <a:avLst/>
          </a:prstGeom>
          <a:noFill/>
        </p:spPr>
        <p:txBody>
          <a:bodyPr wrap="square" rtlCol="0">
            <a:spAutoFit/>
          </a:bodyPr>
          <a:lstStyle/>
          <a:p>
            <a:r>
              <a:rPr lang="en-US" b="1" dirty="0">
                <a:solidFill>
                  <a:srgbClr val="FF0000"/>
                </a:solidFill>
                <a:highlight>
                  <a:srgbClr val="FFFF00"/>
                </a:highlight>
              </a:rPr>
              <a:t>Stop the attacker here in the cyber attack kill chain with endpoint/device protection</a:t>
            </a:r>
            <a:endParaRPr lang="en-IN" b="1" dirty="0">
              <a:solidFill>
                <a:srgbClr val="FF0000"/>
              </a:solidFill>
              <a:highlight>
                <a:srgbClr val="FFFF00"/>
              </a:highlight>
            </a:endParaRPr>
          </a:p>
        </p:txBody>
      </p:sp>
      <p:cxnSp>
        <p:nvCxnSpPr>
          <p:cNvPr id="8" name="Straight Arrow Connector 7">
            <a:extLst>
              <a:ext uri="{FF2B5EF4-FFF2-40B4-BE49-F238E27FC236}">
                <a16:creationId xmlns:a16="http://schemas.microsoft.com/office/drawing/2014/main" id="{6EB74427-9C2C-CC18-D773-D83A15FC8C46}"/>
              </a:ext>
            </a:extLst>
          </p:cNvPr>
          <p:cNvCxnSpPr/>
          <p:nvPr/>
        </p:nvCxnSpPr>
        <p:spPr>
          <a:xfrm flipH="1">
            <a:off x="4539343" y="4452257"/>
            <a:ext cx="827314" cy="13171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47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304144-43CA-F7C4-0E4D-26DD08D64436}"/>
              </a:ext>
            </a:extLst>
          </p:cNvPr>
          <p:cNvPicPr>
            <a:picLocks noChangeAspect="1"/>
          </p:cNvPicPr>
          <p:nvPr/>
        </p:nvPicPr>
        <p:blipFill>
          <a:blip r:embed="rId2"/>
          <a:stretch>
            <a:fillRect/>
          </a:stretch>
        </p:blipFill>
        <p:spPr>
          <a:xfrm>
            <a:off x="1519162" y="108860"/>
            <a:ext cx="9676184" cy="5442854"/>
          </a:xfrm>
          <a:prstGeom prst="rect">
            <a:avLst/>
          </a:prstGeom>
        </p:spPr>
      </p:pic>
      <p:sp>
        <p:nvSpPr>
          <p:cNvPr id="6" name="TextBox 5">
            <a:extLst>
              <a:ext uri="{FF2B5EF4-FFF2-40B4-BE49-F238E27FC236}">
                <a16:creationId xmlns:a16="http://schemas.microsoft.com/office/drawing/2014/main" id="{40D833A9-C7B2-5CCF-60C8-86DD33BDACE8}"/>
              </a:ext>
            </a:extLst>
          </p:cNvPr>
          <p:cNvSpPr txBox="1"/>
          <p:nvPr/>
        </p:nvSpPr>
        <p:spPr>
          <a:xfrm>
            <a:off x="424538" y="5725887"/>
            <a:ext cx="11560629"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Suppose your endpoint gets compromised by a </a:t>
            </a:r>
            <a:r>
              <a:rPr lang="en-US" b="1" dirty="0"/>
              <a:t>malware</a:t>
            </a:r>
            <a:r>
              <a:rPr lang="en-US" dirty="0"/>
              <a:t> through a </a:t>
            </a:r>
            <a:r>
              <a:rPr lang="en-US" b="1" dirty="0"/>
              <a:t>phishing mail</a:t>
            </a:r>
            <a:r>
              <a:rPr lang="en-US" dirty="0"/>
              <a:t>. Now the attacker can go to </a:t>
            </a:r>
            <a:r>
              <a:rPr lang="en-US" b="1" dirty="0"/>
              <a:t>copilot.microsoft.com </a:t>
            </a:r>
            <a:r>
              <a:rPr lang="en-US" dirty="0"/>
              <a:t>which is available on all your </a:t>
            </a:r>
            <a:r>
              <a:rPr lang="en-US" b="1" dirty="0"/>
              <a:t>corporate devices </a:t>
            </a:r>
            <a:r>
              <a:rPr lang="en-US" dirty="0"/>
              <a:t>as a </a:t>
            </a:r>
            <a:r>
              <a:rPr lang="en-US" b="1" dirty="0"/>
              <a:t>managed cloud app </a:t>
            </a:r>
            <a:r>
              <a:rPr lang="en-US" dirty="0"/>
              <a:t>and can run a query to </a:t>
            </a:r>
            <a:r>
              <a:rPr lang="en-US" b="1" dirty="0"/>
              <a:t>extract sensitive information in no time</a:t>
            </a:r>
            <a:endParaRPr lang="en-IN" b="1" dirty="0"/>
          </a:p>
        </p:txBody>
      </p:sp>
    </p:spTree>
    <p:extLst>
      <p:ext uri="{BB962C8B-B14F-4D97-AF65-F5344CB8AC3E}">
        <p14:creationId xmlns:p14="http://schemas.microsoft.com/office/powerpoint/2010/main" val="388361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Freeform: Shape 308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89" name="Isosceles Triangle 308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Adoption Or Migration To Microsoft Intune (MDM) | EPCGroup">
            <a:extLst>
              <a:ext uri="{FF2B5EF4-FFF2-40B4-BE49-F238E27FC236}">
                <a16:creationId xmlns:a16="http://schemas.microsoft.com/office/drawing/2014/main" id="{9FAC350D-6686-6404-ABA9-12AF289F4D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7611" y="675470"/>
            <a:ext cx="10905066" cy="550705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091" name="Isosceles Triangle 309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C0F50F4-6DCA-752B-6218-6007EF8D237A}"/>
              </a:ext>
            </a:extLst>
          </p:cNvPr>
          <p:cNvSpPr txBox="1"/>
          <p:nvPr/>
        </p:nvSpPr>
        <p:spPr>
          <a:xfrm>
            <a:off x="6266146" y="6129977"/>
            <a:ext cx="536100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t>enables organizations to manage and protect their data within applications.</a:t>
            </a:r>
            <a:endParaRPr lang="en-IN" dirty="0"/>
          </a:p>
        </p:txBody>
      </p:sp>
      <p:sp>
        <p:nvSpPr>
          <p:cNvPr id="15" name="TextBox 14">
            <a:extLst>
              <a:ext uri="{FF2B5EF4-FFF2-40B4-BE49-F238E27FC236}">
                <a16:creationId xmlns:a16="http://schemas.microsoft.com/office/drawing/2014/main" id="{F27CD74B-7FC2-687E-CCA6-88765EC44E58}"/>
              </a:ext>
            </a:extLst>
          </p:cNvPr>
          <p:cNvSpPr txBox="1"/>
          <p:nvPr/>
        </p:nvSpPr>
        <p:spPr>
          <a:xfrm>
            <a:off x="564849" y="6145888"/>
            <a:ext cx="536100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dirty="0"/>
              <a:t>enables organizations to protect and secure their resources and data based on enrolled devices.</a:t>
            </a:r>
            <a:endParaRPr lang="en-IN" dirty="0"/>
          </a:p>
        </p:txBody>
      </p:sp>
      <p:sp>
        <p:nvSpPr>
          <p:cNvPr id="16" name="TextBox 15">
            <a:extLst>
              <a:ext uri="{FF2B5EF4-FFF2-40B4-BE49-F238E27FC236}">
                <a16:creationId xmlns:a16="http://schemas.microsoft.com/office/drawing/2014/main" id="{98722529-CEBF-9E60-E643-83949A7BF3EA}"/>
              </a:ext>
            </a:extLst>
          </p:cNvPr>
          <p:cNvSpPr txBox="1"/>
          <p:nvPr/>
        </p:nvSpPr>
        <p:spPr>
          <a:xfrm>
            <a:off x="3031802" y="76125"/>
            <a:ext cx="5508166" cy="523220"/>
          </a:xfrm>
          <a:prstGeom prst="rect">
            <a:avLst/>
          </a:prstGeom>
          <a:noFill/>
        </p:spPr>
        <p:txBody>
          <a:bodyPr wrap="square" rtlCol="0">
            <a:spAutoFit/>
          </a:bodyPr>
          <a:lstStyle/>
          <a:p>
            <a:pPr algn="ctr"/>
            <a:r>
              <a:rPr lang="en-US" sz="2800" dirty="0">
                <a:solidFill>
                  <a:srgbClr val="FF0000"/>
                </a:solidFill>
                <a:highlight>
                  <a:srgbClr val="FFFF00"/>
                </a:highlight>
              </a:rPr>
              <a:t>SOLUTION : MAM and MDM</a:t>
            </a:r>
            <a:endParaRPr lang="en-IN" sz="2800" dirty="0">
              <a:solidFill>
                <a:srgbClr val="FF0000"/>
              </a:solidFill>
              <a:highlight>
                <a:srgbClr val="FFFF00"/>
              </a:highlight>
            </a:endParaRPr>
          </a:p>
        </p:txBody>
      </p:sp>
    </p:spTree>
    <p:extLst>
      <p:ext uri="{BB962C8B-B14F-4D97-AF65-F5344CB8AC3E}">
        <p14:creationId xmlns:p14="http://schemas.microsoft.com/office/powerpoint/2010/main" val="3876473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A6EF-F074-DBD9-2187-282B1816F5D1}"/>
              </a:ext>
            </a:extLst>
          </p:cNvPr>
          <p:cNvSpPr>
            <a:spLocks noGrp="1"/>
          </p:cNvSpPr>
          <p:nvPr>
            <p:ph type="title"/>
          </p:nvPr>
        </p:nvSpPr>
        <p:spPr>
          <a:xfrm>
            <a:off x="1937657" y="-168275"/>
            <a:ext cx="10515600" cy="1325563"/>
          </a:xfrm>
        </p:spPr>
        <p:txBody>
          <a:bodyPr/>
          <a:lstStyle/>
          <a:p>
            <a:r>
              <a:rPr lang="en-US" dirty="0"/>
              <a:t>(MAM + MDM) by Microsoft = Intune</a:t>
            </a:r>
            <a:endParaRPr lang="en-IN" dirty="0"/>
          </a:p>
        </p:txBody>
      </p:sp>
      <p:pic>
        <p:nvPicPr>
          <p:cNvPr id="4" name="Picture 2" descr="Microsoft Intune color icon in PNG, SVG">
            <a:extLst>
              <a:ext uri="{FF2B5EF4-FFF2-40B4-BE49-F238E27FC236}">
                <a16:creationId xmlns:a16="http://schemas.microsoft.com/office/drawing/2014/main" id="{5BC54632-B07F-AB6E-38D2-FD4D41E97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2"/>
          <a:stretch/>
        </p:blipFill>
        <p:spPr bwMode="auto">
          <a:xfrm>
            <a:off x="10156835" y="-168275"/>
            <a:ext cx="1509769" cy="150976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0B0EA58-531F-7CCA-E211-140636B4A072}"/>
              </a:ext>
            </a:extLst>
          </p:cNvPr>
          <p:cNvSpPr txBox="1"/>
          <p:nvPr/>
        </p:nvSpPr>
        <p:spPr>
          <a:xfrm>
            <a:off x="5951924" y="1918455"/>
            <a:ext cx="609600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Microsoft Intune is a single, integrated management platform for managing, protecting, and monitoring all of your organization's endpoints.</a:t>
            </a:r>
            <a:endParaRPr lang="en-IN" dirty="0"/>
          </a:p>
        </p:txBody>
      </p:sp>
      <p:sp>
        <p:nvSpPr>
          <p:cNvPr id="12" name="TextBox 11">
            <a:extLst>
              <a:ext uri="{FF2B5EF4-FFF2-40B4-BE49-F238E27FC236}">
                <a16:creationId xmlns:a16="http://schemas.microsoft.com/office/drawing/2014/main" id="{CA88AC7D-89DA-4B06-69D0-A826D74F1E6A}"/>
              </a:ext>
            </a:extLst>
          </p:cNvPr>
          <p:cNvSpPr txBox="1"/>
          <p:nvPr/>
        </p:nvSpPr>
        <p:spPr>
          <a:xfrm>
            <a:off x="5951924" y="3149935"/>
            <a:ext cx="60960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Endpoints include all the apps and devices that your organization uses</a:t>
            </a:r>
            <a:endParaRPr lang="en-IN" dirty="0"/>
          </a:p>
        </p:txBody>
      </p:sp>
      <p:pic>
        <p:nvPicPr>
          <p:cNvPr id="4098" name="Picture 2" descr="What is Microsoft Intune? The 6 Business Problems Intune Helps Solve">
            <a:extLst>
              <a:ext uri="{FF2B5EF4-FFF2-40B4-BE49-F238E27FC236}">
                <a16:creationId xmlns:a16="http://schemas.microsoft.com/office/drawing/2014/main" id="{C896FA3D-BEBC-484D-DF45-E297CE5E3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4" y="737993"/>
            <a:ext cx="5921830" cy="600026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icrosoft Intune Management | Enable Mobile Productivity | Korcomptenz">
            <a:extLst>
              <a:ext uri="{FF2B5EF4-FFF2-40B4-BE49-F238E27FC236}">
                <a16:creationId xmlns:a16="http://schemas.microsoft.com/office/drawing/2014/main" id="{907DB393-19BF-B051-9234-8401CB7B9D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9950" y="3972523"/>
            <a:ext cx="4771191" cy="276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2672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DE71A-13BC-8E10-7DFD-FADCF56F3615}"/>
            </a:ext>
          </a:extLst>
        </p:cNvPr>
        <p:cNvGrpSpPr/>
        <p:nvPr/>
      </p:nvGrpSpPr>
      <p:grpSpPr>
        <a:xfrm>
          <a:off x="0" y="0"/>
          <a:ext cx="0" cy="0"/>
          <a:chOff x="0" y="0"/>
          <a:chExt cx="0" cy="0"/>
        </a:xfrm>
      </p:grpSpPr>
      <p:pic>
        <p:nvPicPr>
          <p:cNvPr id="6146" name="Picture 2" descr="High-level architecture for Microsoft Intune | Microsoft Learn">
            <a:extLst>
              <a:ext uri="{FF2B5EF4-FFF2-40B4-BE49-F238E27FC236}">
                <a16:creationId xmlns:a16="http://schemas.microsoft.com/office/drawing/2014/main" id="{21600CED-3EB9-9F85-3E01-82487B0E4F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2056"/>
          <a:stretch/>
        </p:blipFill>
        <p:spPr bwMode="auto">
          <a:xfrm>
            <a:off x="20" y="10"/>
            <a:ext cx="12191980" cy="6866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229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545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881290-3CEC-3F33-1967-3052AD52834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Key Features of Microsoft Intune</a:t>
            </a:r>
          </a:p>
        </p:txBody>
      </p:sp>
      <p:pic>
        <p:nvPicPr>
          <p:cNvPr id="4" name="Picture 2" descr="Microsoft Intune color icon in PNG, SVG">
            <a:extLst>
              <a:ext uri="{FF2B5EF4-FFF2-40B4-BE49-F238E27FC236}">
                <a16:creationId xmlns:a16="http://schemas.microsoft.com/office/drawing/2014/main" id="{5201A941-2131-A379-D592-5178FDD91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2"/>
          <a:stretch/>
        </p:blipFill>
        <p:spPr bwMode="auto">
          <a:xfrm>
            <a:off x="5167206" y="961812"/>
            <a:ext cx="4930987" cy="493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652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0FC4-85BE-14FE-2F6F-92EDD7152B7C}"/>
              </a:ext>
            </a:extLst>
          </p:cNvPr>
          <p:cNvSpPr>
            <a:spLocks noGrp="1"/>
          </p:cNvSpPr>
          <p:nvPr>
            <p:ph type="title"/>
          </p:nvPr>
        </p:nvSpPr>
        <p:spPr>
          <a:xfrm>
            <a:off x="986790" y="-229779"/>
            <a:ext cx="10515600" cy="1325563"/>
          </a:xfrm>
        </p:spPr>
        <p:txBody>
          <a:bodyPr/>
          <a:lstStyle/>
          <a:p>
            <a:pPr algn="ctr"/>
            <a:r>
              <a:rPr lang="en-US" dirty="0"/>
              <a:t>Device Enrollment</a:t>
            </a:r>
            <a:endParaRPr lang="en-IN" dirty="0"/>
          </a:p>
        </p:txBody>
      </p:sp>
      <p:pic>
        <p:nvPicPr>
          <p:cNvPr id="9220" name="Picture 4" descr="Step 5 – Enroll devices in Microsoft Intune | Microsoft Learn">
            <a:extLst>
              <a:ext uri="{FF2B5EF4-FFF2-40B4-BE49-F238E27FC236}">
                <a16:creationId xmlns:a16="http://schemas.microsoft.com/office/drawing/2014/main" id="{C5F13DB2-512C-CCC6-0157-43236E673C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 y="1611629"/>
            <a:ext cx="6333117" cy="38109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79A1BC3-CD62-F20C-CB8F-2156CBBD68A7}"/>
              </a:ext>
            </a:extLst>
          </p:cNvPr>
          <p:cNvSpPr txBox="1"/>
          <p:nvPr/>
        </p:nvSpPr>
        <p:spPr>
          <a:xfrm>
            <a:off x="6528027" y="2085944"/>
            <a:ext cx="5572533"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1) </a:t>
            </a:r>
            <a:r>
              <a:rPr lang="en-IN" b="1" dirty="0"/>
              <a:t>Windows Devices</a:t>
            </a:r>
            <a:r>
              <a:rPr lang="en-IN" dirty="0"/>
              <a:t>: Use Autopilot, Group Policy, or manual </a:t>
            </a:r>
            <a:r>
              <a:rPr lang="en-IN" dirty="0" err="1"/>
              <a:t>enrollment</a:t>
            </a:r>
            <a:r>
              <a:rPr lang="en-IN" dirty="0"/>
              <a:t>.</a:t>
            </a:r>
          </a:p>
          <a:p>
            <a:pPr marL="342900" indent="-342900">
              <a:buAutoNum type="arabicParenR"/>
            </a:pPr>
            <a:endParaRPr lang="en-IN" dirty="0"/>
          </a:p>
          <a:p>
            <a:r>
              <a:rPr lang="en-IN" dirty="0"/>
              <a:t>2) </a:t>
            </a:r>
            <a:r>
              <a:rPr lang="en-IN" b="1" dirty="0"/>
              <a:t>macOS Devices</a:t>
            </a:r>
            <a:r>
              <a:rPr lang="en-IN" dirty="0"/>
              <a:t>: Utilize Apple Automated Device </a:t>
            </a:r>
            <a:r>
              <a:rPr lang="en-IN" dirty="0" err="1"/>
              <a:t>Enrollment</a:t>
            </a:r>
            <a:r>
              <a:rPr lang="en-IN" dirty="0"/>
              <a:t> (ADE) via Apple Business Manager.</a:t>
            </a:r>
          </a:p>
          <a:p>
            <a:r>
              <a:rPr lang="en-IN" dirty="0"/>
              <a:t>iOS/iPadOS Devices: </a:t>
            </a:r>
            <a:r>
              <a:rPr lang="en-IN" dirty="0" err="1"/>
              <a:t>Enroll</a:t>
            </a:r>
            <a:r>
              <a:rPr lang="en-IN" dirty="0"/>
              <a:t> through the Intune Company Portal app or Apple ADE.</a:t>
            </a:r>
          </a:p>
          <a:p>
            <a:endParaRPr lang="en-IN" dirty="0"/>
          </a:p>
          <a:p>
            <a:r>
              <a:rPr lang="en-IN" dirty="0"/>
              <a:t>3) </a:t>
            </a:r>
            <a:r>
              <a:rPr lang="en-IN" b="1" dirty="0"/>
              <a:t>Android Devices</a:t>
            </a:r>
            <a:r>
              <a:rPr lang="en-IN" dirty="0"/>
              <a:t>: Use Android Enterprise for corporate-owned or personally-owned devices.</a:t>
            </a:r>
          </a:p>
        </p:txBody>
      </p:sp>
    </p:spTree>
    <p:extLst>
      <p:ext uri="{BB962C8B-B14F-4D97-AF65-F5344CB8AC3E}">
        <p14:creationId xmlns:p14="http://schemas.microsoft.com/office/powerpoint/2010/main" val="1726822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73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A44355-1AEC-CA2C-941D-9E5143562D9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Device Compliance</a:t>
            </a:r>
          </a:p>
        </p:txBody>
      </p:sp>
      <p:pic>
        <p:nvPicPr>
          <p:cNvPr id="5" name="Content Placeholder 4">
            <a:extLst>
              <a:ext uri="{FF2B5EF4-FFF2-40B4-BE49-F238E27FC236}">
                <a16:creationId xmlns:a16="http://schemas.microsoft.com/office/drawing/2014/main" id="{5EBAAE3B-832F-955D-529E-43294690E6E8}"/>
              </a:ext>
            </a:extLst>
          </p:cNvPr>
          <p:cNvPicPr>
            <a:picLocks noGrp="1" noChangeAspect="1"/>
          </p:cNvPicPr>
          <p:nvPr>
            <p:ph idx="1"/>
          </p:nvPr>
        </p:nvPicPr>
        <p:blipFill>
          <a:blip r:embed="rId2"/>
          <a:stretch>
            <a:fillRect/>
          </a:stretch>
        </p:blipFill>
        <p:spPr>
          <a:xfrm>
            <a:off x="3609224" y="1911077"/>
            <a:ext cx="8155902" cy="4587694"/>
          </a:xfrm>
          <a:prstGeom prst="rect">
            <a:avLst/>
          </a:prstGeom>
        </p:spPr>
      </p:pic>
      <p:sp>
        <p:nvSpPr>
          <p:cNvPr id="9" name="TextBox 8">
            <a:extLst>
              <a:ext uri="{FF2B5EF4-FFF2-40B4-BE49-F238E27FC236}">
                <a16:creationId xmlns:a16="http://schemas.microsoft.com/office/drawing/2014/main" id="{7428447E-3F05-B49E-8B2C-9BC97EA4EDEE}"/>
              </a:ext>
            </a:extLst>
          </p:cNvPr>
          <p:cNvSpPr txBox="1"/>
          <p:nvPr/>
        </p:nvSpPr>
        <p:spPr>
          <a:xfrm>
            <a:off x="3274269" y="540040"/>
            <a:ext cx="8490857"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t>Device compliance in Microsoft Intune ensures that enrolled devices meet your organization's security and operational requirements. It evaluates devices against predefined compliance policies and integrates with Conditional Access to secure resources.</a:t>
            </a:r>
            <a:endParaRPr lang="en-IN" sz="1600" dirty="0"/>
          </a:p>
        </p:txBody>
      </p:sp>
    </p:spTree>
    <p:extLst>
      <p:ext uri="{BB962C8B-B14F-4D97-AF65-F5344CB8AC3E}">
        <p14:creationId xmlns:p14="http://schemas.microsoft.com/office/powerpoint/2010/main" val="1155013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FDEB6B-A8A1-8C69-1D48-5590C73923C4}"/>
              </a:ext>
            </a:extLst>
          </p:cNvPr>
          <p:cNvSpPr>
            <a:spLocks noGrp="1"/>
          </p:cNvSpPr>
          <p:nvPr>
            <p:ph type="title"/>
          </p:nvPr>
        </p:nvSpPr>
        <p:spPr>
          <a:xfrm>
            <a:off x="686834" y="1153572"/>
            <a:ext cx="3200400" cy="4461163"/>
          </a:xfrm>
        </p:spPr>
        <p:txBody>
          <a:bodyPr>
            <a:normAutofit/>
          </a:bodyPr>
          <a:lstStyle/>
          <a:p>
            <a:r>
              <a:rPr lang="en-US" sz="4100">
                <a:solidFill>
                  <a:srgbClr val="FFFFFF"/>
                </a:solidFill>
              </a:rPr>
              <a:t>Configuration Policies</a:t>
            </a:r>
            <a:endParaRPr lang="en-IN"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Content Placeholder 2">
            <a:extLst>
              <a:ext uri="{FF2B5EF4-FFF2-40B4-BE49-F238E27FC236}">
                <a16:creationId xmlns:a16="http://schemas.microsoft.com/office/drawing/2014/main" id="{3C313F11-5AF5-E7EF-E032-3A302C0E0286}"/>
              </a:ext>
            </a:extLst>
          </p:cNvPr>
          <p:cNvSpPr>
            <a:spLocks noGrp="1"/>
          </p:cNvSpPr>
          <p:nvPr>
            <p:ph idx="1"/>
          </p:nvPr>
        </p:nvSpPr>
        <p:spPr>
          <a:xfrm>
            <a:off x="4447308" y="591344"/>
            <a:ext cx="6906491" cy="5585619"/>
          </a:xfrm>
        </p:spPr>
        <p:txBody>
          <a:bodyPr anchor="ctr">
            <a:normAutofit/>
          </a:bodyPr>
          <a:lstStyle/>
          <a:p>
            <a:r>
              <a:rPr lang="en-US" sz="2200" b="1"/>
              <a:t>What are Configuration Policies?</a:t>
            </a:r>
            <a:br>
              <a:rPr lang="en-US" sz="2200"/>
            </a:br>
            <a:r>
              <a:rPr lang="en-US" sz="2200"/>
              <a:t>Configuration policies in Microsoft Intune are predefined settings used to configure and enforce rules on managed devices. These policies help organizations ensure devices meet security and operational standards.</a:t>
            </a:r>
          </a:p>
          <a:p>
            <a:r>
              <a:rPr lang="en-US" sz="2200" b="1"/>
              <a:t>Key Features of Configuration Policies:</a:t>
            </a:r>
            <a:endParaRPr lang="en-US" sz="2200"/>
          </a:p>
          <a:p>
            <a:pPr>
              <a:buFont typeface="Arial" panose="020B0604020202020204" pitchFamily="34" charset="0"/>
              <a:buChar char="•"/>
            </a:pPr>
            <a:r>
              <a:rPr lang="en-US" sz="2200" b="1"/>
              <a:t>Device Settings Management:</a:t>
            </a:r>
            <a:r>
              <a:rPr lang="en-US" sz="2200"/>
              <a:t> Enforce Wi-Fi, VPN, email, and device password configurations.</a:t>
            </a:r>
          </a:p>
          <a:p>
            <a:pPr>
              <a:buFont typeface="Arial" panose="020B0604020202020204" pitchFamily="34" charset="0"/>
              <a:buChar char="•"/>
            </a:pPr>
            <a:r>
              <a:rPr lang="en-US" sz="2200" b="1"/>
              <a:t>Security Settings:</a:t>
            </a:r>
            <a:r>
              <a:rPr lang="en-US" sz="2200"/>
              <a:t> Apply BitLocker encryption, firewall rules, and antivirus settings.</a:t>
            </a:r>
          </a:p>
          <a:p>
            <a:pPr>
              <a:buFont typeface="Arial" panose="020B0604020202020204" pitchFamily="34" charset="0"/>
              <a:buChar char="•"/>
            </a:pPr>
            <a:r>
              <a:rPr lang="en-US" sz="2200" b="1"/>
              <a:t>Compliance Enforcement:</a:t>
            </a:r>
            <a:r>
              <a:rPr lang="en-US" sz="2200"/>
              <a:t> Ensure devices adhere to organizational compliance policies.</a:t>
            </a:r>
          </a:p>
          <a:p>
            <a:pPr>
              <a:buFont typeface="Arial" panose="020B0604020202020204" pitchFamily="34" charset="0"/>
              <a:buChar char="•"/>
            </a:pPr>
            <a:r>
              <a:rPr lang="en-US" sz="2200" b="1"/>
              <a:t>User Experience Customization:</a:t>
            </a:r>
            <a:r>
              <a:rPr lang="en-US" sz="2200"/>
              <a:t> Configure desktop settings, start menus, and device restrictions.</a:t>
            </a:r>
          </a:p>
          <a:p>
            <a:endParaRPr lang="en-IN" sz="2200"/>
          </a:p>
        </p:txBody>
      </p:sp>
    </p:spTree>
    <p:extLst>
      <p:ext uri="{BB962C8B-B14F-4D97-AF65-F5344CB8AC3E}">
        <p14:creationId xmlns:p14="http://schemas.microsoft.com/office/powerpoint/2010/main" val="3098909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FC7-C2E8-219C-7B4F-380FF8F8EC50}"/>
              </a:ext>
            </a:extLst>
          </p:cNvPr>
          <p:cNvSpPr>
            <a:spLocks noGrp="1"/>
          </p:cNvSpPr>
          <p:nvPr>
            <p:ph type="title"/>
          </p:nvPr>
        </p:nvSpPr>
        <p:spPr>
          <a:xfrm>
            <a:off x="838200" y="-233589"/>
            <a:ext cx="10515600" cy="1325563"/>
          </a:xfrm>
        </p:spPr>
        <p:txBody>
          <a:bodyPr/>
          <a:lstStyle/>
          <a:p>
            <a:pPr algn="ctr"/>
            <a:r>
              <a:rPr lang="en-US" dirty="0"/>
              <a:t>App Protection Policies</a:t>
            </a:r>
            <a:endParaRPr lang="en-IN" dirty="0"/>
          </a:p>
        </p:txBody>
      </p:sp>
      <p:pic>
        <p:nvPicPr>
          <p:cNvPr id="10242" name="Picture 2" descr="Devices using app protection policies with enrollment - Microsoft Intune.">
            <a:extLst>
              <a:ext uri="{FF2B5EF4-FFF2-40B4-BE49-F238E27FC236}">
                <a16:creationId xmlns:a16="http://schemas.microsoft.com/office/drawing/2014/main" id="{74C0026B-DFAE-2E4C-6236-ADAFEF279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8" y="950460"/>
            <a:ext cx="4733925" cy="5648325"/>
          </a:xfrm>
          <a:prstGeom prst="rect">
            <a:avLst/>
          </a:prstGeom>
          <a:noFill/>
          <a:ln w="28575">
            <a:solidFill>
              <a:srgbClr val="7030A0"/>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6FE28D-A0BD-0092-D552-FD90ABD76137}"/>
              </a:ext>
            </a:extLst>
          </p:cNvPr>
          <p:cNvSpPr txBox="1"/>
          <p:nvPr/>
        </p:nvSpPr>
        <p:spPr>
          <a:xfrm>
            <a:off x="5453744" y="950460"/>
            <a:ext cx="609600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App Protection Policies (APP) in Microsoft Intune are rules that secure and manage apps on both managed and unmanaged devices. They help protect organizational data at the application level without requiring full device enrollment.</a:t>
            </a:r>
            <a:endParaRPr lang="en-IN" dirty="0"/>
          </a:p>
        </p:txBody>
      </p:sp>
      <p:sp>
        <p:nvSpPr>
          <p:cNvPr id="7" name="TextBox 6">
            <a:extLst>
              <a:ext uri="{FF2B5EF4-FFF2-40B4-BE49-F238E27FC236}">
                <a16:creationId xmlns:a16="http://schemas.microsoft.com/office/drawing/2014/main" id="{15422625-A0D3-F279-BCE2-36F16A06F5D6}"/>
              </a:ext>
            </a:extLst>
          </p:cNvPr>
          <p:cNvSpPr txBox="1"/>
          <p:nvPr/>
        </p:nvSpPr>
        <p:spPr>
          <a:xfrm>
            <a:off x="5372102" y="2523598"/>
            <a:ext cx="6455228" cy="42473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a:t>Key Features of App Protection Policies:</a:t>
            </a:r>
            <a:endParaRPr lang="en-US" dirty="0"/>
          </a:p>
          <a:p>
            <a:pPr>
              <a:buFont typeface="+mj-lt"/>
              <a:buAutoNum type="arabicPeriod"/>
            </a:pPr>
            <a:r>
              <a:rPr lang="en-US" b="1" dirty="0"/>
              <a:t>Data Protection:</a:t>
            </a:r>
            <a:endParaRPr lang="en-US" dirty="0"/>
          </a:p>
          <a:p>
            <a:pPr marL="742950" lvl="1" indent="-285750">
              <a:buFont typeface="+mj-lt"/>
              <a:buAutoNum type="arabicPeriod"/>
            </a:pPr>
            <a:r>
              <a:rPr lang="en-US" dirty="0"/>
              <a:t>Prevent data leakage by restricting copy-paste, save-as, or screenshot capabilities.</a:t>
            </a:r>
          </a:p>
          <a:p>
            <a:pPr marL="742950" lvl="1" indent="-285750">
              <a:buFont typeface="+mj-lt"/>
              <a:buAutoNum type="arabicPeriod"/>
            </a:pPr>
            <a:r>
              <a:rPr lang="en-US" dirty="0"/>
              <a:t>Encrypt app data for added security.</a:t>
            </a:r>
          </a:p>
          <a:p>
            <a:pPr>
              <a:buFont typeface="+mj-lt"/>
              <a:buAutoNum type="arabicPeriod"/>
            </a:pPr>
            <a:r>
              <a:rPr lang="en-US" b="1" dirty="0"/>
              <a:t>Access Control:</a:t>
            </a:r>
            <a:endParaRPr lang="en-US" dirty="0"/>
          </a:p>
          <a:p>
            <a:pPr marL="742950" lvl="1" indent="-285750">
              <a:buFont typeface="+mj-lt"/>
              <a:buAutoNum type="arabicPeriod"/>
            </a:pPr>
            <a:r>
              <a:rPr lang="en-US" dirty="0"/>
              <a:t>Require PIN or biometric authentication to access apps.</a:t>
            </a:r>
          </a:p>
          <a:p>
            <a:pPr marL="742950" lvl="1" indent="-285750">
              <a:buFont typeface="+mj-lt"/>
              <a:buAutoNum type="arabicPeriod"/>
            </a:pPr>
            <a:r>
              <a:rPr lang="en-US" dirty="0"/>
              <a:t>Set session timeouts for inactive apps.</a:t>
            </a:r>
          </a:p>
          <a:p>
            <a:pPr>
              <a:buFont typeface="+mj-lt"/>
              <a:buAutoNum type="arabicPeriod"/>
            </a:pPr>
            <a:r>
              <a:rPr lang="en-US" b="1" dirty="0"/>
              <a:t>Conditional Launch:</a:t>
            </a:r>
            <a:endParaRPr lang="en-US" dirty="0"/>
          </a:p>
          <a:p>
            <a:pPr marL="742950" lvl="1" indent="-285750">
              <a:buFont typeface="+mj-lt"/>
              <a:buAutoNum type="arabicPeriod"/>
            </a:pPr>
            <a:r>
              <a:rPr lang="en-US" dirty="0"/>
              <a:t>Restrict app access based on device health, location, or network conditions.</a:t>
            </a:r>
          </a:p>
          <a:p>
            <a:pPr marL="742950" lvl="1" indent="-285750">
              <a:buFont typeface="+mj-lt"/>
              <a:buAutoNum type="arabicPeriod"/>
            </a:pPr>
            <a:r>
              <a:rPr lang="en-US" dirty="0"/>
              <a:t>Block access if the device is jailbroken or rooted.</a:t>
            </a:r>
          </a:p>
          <a:p>
            <a:pPr>
              <a:buFont typeface="+mj-lt"/>
              <a:buAutoNum type="arabicPeriod"/>
            </a:pPr>
            <a:r>
              <a:rPr lang="en-US" b="1" dirty="0"/>
              <a:t>Selective Wipe:</a:t>
            </a:r>
            <a:endParaRPr lang="en-US" dirty="0"/>
          </a:p>
          <a:p>
            <a:pPr marL="742950" lvl="1" indent="-285750">
              <a:buFont typeface="+mj-lt"/>
              <a:buAutoNum type="arabicPeriod"/>
            </a:pPr>
            <a:r>
              <a:rPr lang="en-US" dirty="0"/>
              <a:t>Remove corporate data from apps without affecting personal data.</a:t>
            </a:r>
          </a:p>
        </p:txBody>
      </p:sp>
    </p:spTree>
    <p:extLst>
      <p:ext uri="{BB962C8B-B14F-4D97-AF65-F5344CB8AC3E}">
        <p14:creationId xmlns:p14="http://schemas.microsoft.com/office/powerpoint/2010/main" val="3351999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2520-B7D6-ABD3-438B-C2EB15E2055C}"/>
              </a:ext>
            </a:extLst>
          </p:cNvPr>
          <p:cNvSpPr>
            <a:spLocks noGrp="1"/>
          </p:cNvSpPr>
          <p:nvPr>
            <p:ph type="title"/>
          </p:nvPr>
        </p:nvSpPr>
        <p:spPr>
          <a:xfrm>
            <a:off x="838200" y="-190046"/>
            <a:ext cx="10515600" cy="1325563"/>
          </a:xfrm>
        </p:spPr>
        <p:txBody>
          <a:bodyPr/>
          <a:lstStyle/>
          <a:p>
            <a:pPr algn="ctr"/>
            <a:r>
              <a:rPr lang="en-US" dirty="0"/>
              <a:t>Conditional Access Policies</a:t>
            </a:r>
            <a:endParaRPr lang="en-IN" dirty="0"/>
          </a:p>
        </p:txBody>
      </p:sp>
      <p:pic>
        <p:nvPicPr>
          <p:cNvPr id="11266" name="Picture 2" descr="Conditional Access policies ensure your devices are compliant - Network  Antics">
            <a:extLst>
              <a:ext uri="{FF2B5EF4-FFF2-40B4-BE49-F238E27FC236}">
                <a16:creationId xmlns:a16="http://schemas.microsoft.com/office/drawing/2014/main" id="{FA3CCD74-EA89-B9F8-922A-E42330A82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5513" y="1026660"/>
            <a:ext cx="8637060" cy="40025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FD3B78BC-B9A7-8944-57D9-651A2A1204D4}"/>
                  </a:ext>
                </a:extLst>
              </p14:cNvPr>
              <p14:cNvContentPartPr/>
              <p14:nvPr/>
            </p14:nvContentPartPr>
            <p14:xfrm>
              <a:off x="1619983" y="1740309"/>
              <a:ext cx="2204640" cy="1101600"/>
            </p14:xfrm>
          </p:contentPart>
        </mc:Choice>
        <mc:Fallback>
          <p:pic>
            <p:nvPicPr>
              <p:cNvPr id="5" name="Ink 4">
                <a:extLst>
                  <a:ext uri="{FF2B5EF4-FFF2-40B4-BE49-F238E27FC236}">
                    <a16:creationId xmlns:a16="http://schemas.microsoft.com/office/drawing/2014/main" id="{FD3B78BC-B9A7-8944-57D9-651A2A1204D4}"/>
                  </a:ext>
                </a:extLst>
              </p:cNvPr>
              <p:cNvPicPr/>
              <p:nvPr/>
            </p:nvPicPr>
            <p:blipFill>
              <a:blip r:embed="rId4"/>
              <a:stretch>
                <a:fillRect/>
              </a:stretch>
            </p:blipFill>
            <p:spPr>
              <a:xfrm>
                <a:off x="1602343" y="1722669"/>
                <a:ext cx="2240280" cy="1137240"/>
              </a:xfrm>
              <a:prstGeom prst="rect">
                <a:avLst/>
              </a:prstGeom>
            </p:spPr>
          </p:pic>
        </mc:Fallback>
      </mc:AlternateContent>
      <p:sp>
        <p:nvSpPr>
          <p:cNvPr id="7" name="TextBox 6">
            <a:extLst>
              <a:ext uri="{FF2B5EF4-FFF2-40B4-BE49-F238E27FC236}">
                <a16:creationId xmlns:a16="http://schemas.microsoft.com/office/drawing/2014/main" id="{B815CACC-688C-D136-BC89-B5D6AE78B4A3}"/>
              </a:ext>
            </a:extLst>
          </p:cNvPr>
          <p:cNvSpPr txBox="1"/>
          <p:nvPr/>
        </p:nvSpPr>
        <p:spPr>
          <a:xfrm>
            <a:off x="1349827" y="5231175"/>
            <a:ext cx="9720943" cy="1200329"/>
          </a:xfrm>
          <a:prstGeom prst="rect">
            <a:avLst/>
          </a:prstGeom>
          <a:noFill/>
        </p:spPr>
        <p:txBody>
          <a:bodyPr wrap="square">
            <a:spAutoFit/>
          </a:bodyPr>
          <a:lstStyle/>
          <a:p>
            <a:r>
              <a:rPr lang="en-US" b="1" dirty="0"/>
              <a:t>What are Conditional Access Policies?</a:t>
            </a:r>
            <a:br>
              <a:rPr lang="en-US" dirty="0"/>
            </a:br>
            <a:r>
              <a:rPr lang="en-US" dirty="0"/>
              <a:t>Conditional Access Policies in Microsoft Intune are access control mechanisms that enforce security measures before granting access to organizational resources. They use signals like user identity, device compliance, location, and app usage to determine access rights.</a:t>
            </a:r>
            <a:endParaRPr lang="en-IN" dirty="0"/>
          </a:p>
        </p:txBody>
      </p:sp>
    </p:spTree>
    <p:extLst>
      <p:ext uri="{BB962C8B-B14F-4D97-AF65-F5344CB8AC3E}">
        <p14:creationId xmlns:p14="http://schemas.microsoft.com/office/powerpoint/2010/main" val="2108286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15A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Manage and secure devices in Intune - Microsoft Intune | Microsoft Learn">
            <a:extLst>
              <a:ext uri="{FF2B5EF4-FFF2-40B4-BE49-F238E27FC236}">
                <a16:creationId xmlns:a16="http://schemas.microsoft.com/office/drawing/2014/main" id="{34AD1705-92A0-2CE7-8A45-2C9D8A87297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743629"/>
            <a:ext cx="10905066" cy="537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802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39E40-309A-121C-A9C3-C30DB8EB8A1F}"/>
              </a:ext>
            </a:extLst>
          </p:cNvPr>
          <p:cNvSpPr>
            <a:spLocks noGrp="1"/>
          </p:cNvSpPr>
          <p:nvPr>
            <p:ph type="title"/>
          </p:nvPr>
        </p:nvSpPr>
        <p:spPr>
          <a:xfrm>
            <a:off x="838200" y="-244475"/>
            <a:ext cx="10515600" cy="1325563"/>
          </a:xfrm>
        </p:spPr>
        <p:txBody>
          <a:bodyPr/>
          <a:lstStyle/>
          <a:p>
            <a:pPr algn="ctr"/>
            <a:r>
              <a:rPr lang="en-US" dirty="0"/>
              <a:t>Endpoint Security with Intune</a:t>
            </a:r>
            <a:endParaRPr lang="en-IN" dirty="0"/>
          </a:p>
        </p:txBody>
      </p:sp>
      <p:pic>
        <p:nvPicPr>
          <p:cNvPr id="5" name="Picture 4">
            <a:extLst>
              <a:ext uri="{FF2B5EF4-FFF2-40B4-BE49-F238E27FC236}">
                <a16:creationId xmlns:a16="http://schemas.microsoft.com/office/drawing/2014/main" id="{7F64B760-F819-72EA-D659-DA3F041A4F2B}"/>
              </a:ext>
            </a:extLst>
          </p:cNvPr>
          <p:cNvPicPr>
            <a:picLocks noChangeAspect="1"/>
          </p:cNvPicPr>
          <p:nvPr/>
        </p:nvPicPr>
        <p:blipFill>
          <a:blip r:embed="rId2"/>
          <a:stretch>
            <a:fillRect/>
          </a:stretch>
        </p:blipFill>
        <p:spPr>
          <a:xfrm>
            <a:off x="1817913" y="779007"/>
            <a:ext cx="8305801" cy="4672013"/>
          </a:xfrm>
          <a:prstGeom prst="rect">
            <a:avLst/>
          </a:prstGeom>
        </p:spPr>
      </p:pic>
      <p:sp>
        <p:nvSpPr>
          <p:cNvPr id="6" name="TextBox 5">
            <a:extLst>
              <a:ext uri="{FF2B5EF4-FFF2-40B4-BE49-F238E27FC236}">
                <a16:creationId xmlns:a16="http://schemas.microsoft.com/office/drawing/2014/main" id="{66CBEE9F-E868-5FDD-CAB1-D867DB14DF6E}"/>
              </a:ext>
            </a:extLst>
          </p:cNvPr>
          <p:cNvSpPr txBox="1"/>
          <p:nvPr/>
        </p:nvSpPr>
        <p:spPr>
          <a:xfrm>
            <a:off x="859970" y="5755827"/>
            <a:ext cx="10221686"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With Endpoint Security through Microsoft Intune, you can set and manage things like firewall, Disk Encryption using BitLocker, Endpoint Detection and Response, Attack Surface Reduction etc.</a:t>
            </a:r>
            <a:endParaRPr lang="en-IN" dirty="0"/>
          </a:p>
        </p:txBody>
      </p:sp>
    </p:spTree>
    <p:extLst>
      <p:ext uri="{BB962C8B-B14F-4D97-AF65-F5344CB8AC3E}">
        <p14:creationId xmlns:p14="http://schemas.microsoft.com/office/powerpoint/2010/main" val="1637169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34A5499-92A1-EFDA-8A0F-76871E1790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988" y="2584531"/>
            <a:ext cx="10116023" cy="4154795"/>
          </a:xfrm>
          <a:prstGeom prst="rect">
            <a:avLst/>
          </a:prstGeom>
        </p:spPr>
      </p:pic>
      <p:pic>
        <p:nvPicPr>
          <p:cNvPr id="10" name="Picture 2" descr="Microsoft Intune color icon in PNG, SVG">
            <a:extLst>
              <a:ext uri="{FF2B5EF4-FFF2-40B4-BE49-F238E27FC236}">
                <a16:creationId xmlns:a16="http://schemas.microsoft.com/office/drawing/2014/main" id="{C58E3314-6753-34B7-35F6-34B80600E4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 b="2"/>
          <a:stretch/>
        </p:blipFill>
        <p:spPr bwMode="auto">
          <a:xfrm>
            <a:off x="9263741" y="249303"/>
            <a:ext cx="1557726" cy="1557726"/>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How I Upgraded This VM To Azure Resource Manager | Aidan Finn, IT Pro">
            <a:extLst>
              <a:ext uri="{FF2B5EF4-FFF2-40B4-BE49-F238E27FC236}">
                <a16:creationId xmlns:a16="http://schemas.microsoft.com/office/drawing/2014/main" id="{7E6B5313-2B18-DB2F-FFA3-A328550DA6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1" y="392403"/>
            <a:ext cx="1557726" cy="14146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E21D569-2A09-999B-FB31-73D752BDA627}"/>
              </a:ext>
            </a:extLst>
          </p:cNvPr>
          <p:cNvSpPr txBox="1"/>
          <p:nvPr/>
        </p:nvSpPr>
        <p:spPr>
          <a:xfrm>
            <a:off x="-180682" y="1807029"/>
            <a:ext cx="3102429" cy="369332"/>
          </a:xfrm>
          <a:prstGeom prst="rect">
            <a:avLst/>
          </a:prstGeom>
          <a:noFill/>
        </p:spPr>
        <p:txBody>
          <a:bodyPr wrap="square" rtlCol="0">
            <a:spAutoFit/>
          </a:bodyPr>
          <a:lstStyle/>
          <a:p>
            <a:pPr algn="ctr"/>
            <a:r>
              <a:rPr lang="en-US" dirty="0"/>
              <a:t>Endpoint</a:t>
            </a:r>
            <a:endParaRPr lang="en-IN" dirty="0"/>
          </a:p>
        </p:txBody>
      </p:sp>
      <p:sp>
        <p:nvSpPr>
          <p:cNvPr id="13" name="TextBox 12">
            <a:extLst>
              <a:ext uri="{FF2B5EF4-FFF2-40B4-BE49-F238E27FC236}">
                <a16:creationId xmlns:a16="http://schemas.microsoft.com/office/drawing/2014/main" id="{A110DD27-7A56-9D3B-9081-3A4EC1202E95}"/>
              </a:ext>
            </a:extLst>
          </p:cNvPr>
          <p:cNvSpPr txBox="1"/>
          <p:nvPr/>
        </p:nvSpPr>
        <p:spPr>
          <a:xfrm>
            <a:off x="9176657" y="1687677"/>
            <a:ext cx="2405742" cy="369332"/>
          </a:xfrm>
          <a:prstGeom prst="rect">
            <a:avLst/>
          </a:prstGeom>
          <a:noFill/>
        </p:spPr>
        <p:txBody>
          <a:bodyPr wrap="square" rtlCol="0">
            <a:spAutoFit/>
          </a:bodyPr>
          <a:lstStyle/>
          <a:p>
            <a:r>
              <a:rPr lang="en-US" dirty="0"/>
              <a:t>Microsoft Intune</a:t>
            </a:r>
            <a:endParaRPr lang="en-IN" dirty="0"/>
          </a:p>
        </p:txBody>
      </p:sp>
      <p:cxnSp>
        <p:nvCxnSpPr>
          <p:cNvPr id="15" name="Straight Arrow Connector 14">
            <a:extLst>
              <a:ext uri="{FF2B5EF4-FFF2-40B4-BE49-F238E27FC236}">
                <a16:creationId xmlns:a16="http://schemas.microsoft.com/office/drawing/2014/main" id="{DA277B6C-B365-9D67-CAA9-2F41690C2572}"/>
              </a:ext>
            </a:extLst>
          </p:cNvPr>
          <p:cNvCxnSpPr>
            <a:stCxn id="10" idx="1"/>
          </p:cNvCxnSpPr>
          <p:nvPr/>
        </p:nvCxnSpPr>
        <p:spPr>
          <a:xfrm flipH="1">
            <a:off x="2167327" y="1028166"/>
            <a:ext cx="70964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77FC568F-3E57-21A2-2163-4DDFEA103C6E}"/>
              </a:ext>
            </a:extLst>
          </p:cNvPr>
          <p:cNvSpPr txBox="1"/>
          <p:nvPr/>
        </p:nvSpPr>
        <p:spPr>
          <a:xfrm>
            <a:off x="3146505" y="597168"/>
            <a:ext cx="5138057" cy="369332"/>
          </a:xfrm>
          <a:prstGeom prst="rect">
            <a:avLst/>
          </a:prstGeom>
          <a:noFill/>
        </p:spPr>
        <p:txBody>
          <a:bodyPr wrap="square" rtlCol="0">
            <a:spAutoFit/>
          </a:bodyPr>
          <a:lstStyle/>
          <a:p>
            <a:pPr algn="ctr"/>
            <a:r>
              <a:rPr lang="en-US" dirty="0">
                <a:highlight>
                  <a:srgbClr val="FFFF00"/>
                </a:highlight>
              </a:rPr>
              <a:t>MAM and MDM Policy Enforcement</a:t>
            </a:r>
            <a:endParaRPr lang="en-IN" dirty="0">
              <a:highlight>
                <a:srgbClr val="FFFF00"/>
              </a:highlight>
            </a:endParaRPr>
          </a:p>
        </p:txBody>
      </p:sp>
      <p:cxnSp>
        <p:nvCxnSpPr>
          <p:cNvPr id="17" name="Straight Arrow Connector 16">
            <a:extLst>
              <a:ext uri="{FF2B5EF4-FFF2-40B4-BE49-F238E27FC236}">
                <a16:creationId xmlns:a16="http://schemas.microsoft.com/office/drawing/2014/main" id="{DD8B8130-88E1-9D80-D386-EE459E0E1807}"/>
              </a:ext>
            </a:extLst>
          </p:cNvPr>
          <p:cNvCxnSpPr>
            <a:cxnSpLocks/>
          </p:cNvCxnSpPr>
          <p:nvPr/>
        </p:nvCxnSpPr>
        <p:spPr>
          <a:xfrm>
            <a:off x="1937657" y="1868695"/>
            <a:ext cx="2340429" cy="17344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5B2885C-2063-ED32-C3E4-87B697C841A1}"/>
              </a:ext>
            </a:extLst>
          </p:cNvPr>
          <p:cNvSpPr txBox="1"/>
          <p:nvPr/>
        </p:nvSpPr>
        <p:spPr>
          <a:xfrm rot="2289481">
            <a:off x="2351314" y="2538119"/>
            <a:ext cx="2340429" cy="369332"/>
          </a:xfrm>
          <a:prstGeom prst="rect">
            <a:avLst/>
          </a:prstGeom>
          <a:noFill/>
        </p:spPr>
        <p:txBody>
          <a:bodyPr wrap="square" rtlCol="0">
            <a:spAutoFit/>
          </a:bodyPr>
          <a:lstStyle/>
          <a:p>
            <a:r>
              <a:rPr lang="en-US" dirty="0">
                <a:highlight>
                  <a:srgbClr val="FFFF00"/>
                </a:highlight>
              </a:rPr>
              <a:t>Threat Indicators</a:t>
            </a:r>
            <a:endParaRPr lang="en-IN" dirty="0">
              <a:highlight>
                <a:srgbClr val="FFFF00"/>
              </a:highlight>
            </a:endParaRPr>
          </a:p>
        </p:txBody>
      </p:sp>
      <p:cxnSp>
        <p:nvCxnSpPr>
          <p:cNvPr id="21" name="Straight Arrow Connector 20">
            <a:extLst>
              <a:ext uri="{FF2B5EF4-FFF2-40B4-BE49-F238E27FC236}">
                <a16:creationId xmlns:a16="http://schemas.microsoft.com/office/drawing/2014/main" id="{F8BCE55E-2FF4-1D61-6614-823F9A1C357F}"/>
              </a:ext>
            </a:extLst>
          </p:cNvPr>
          <p:cNvCxnSpPr>
            <a:cxnSpLocks/>
          </p:cNvCxnSpPr>
          <p:nvPr/>
        </p:nvCxnSpPr>
        <p:spPr>
          <a:xfrm flipV="1">
            <a:off x="4278086" y="1374670"/>
            <a:ext cx="5181600" cy="22163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E4215EB-8FEF-7D68-561C-00A72BBFFCBA}"/>
              </a:ext>
            </a:extLst>
          </p:cNvPr>
          <p:cNvSpPr txBox="1"/>
          <p:nvPr/>
        </p:nvSpPr>
        <p:spPr>
          <a:xfrm rot="20109032">
            <a:off x="3966772" y="2059161"/>
            <a:ext cx="5394162" cy="523220"/>
          </a:xfrm>
          <a:prstGeom prst="rect">
            <a:avLst/>
          </a:prstGeom>
          <a:noFill/>
        </p:spPr>
        <p:txBody>
          <a:bodyPr wrap="square" rtlCol="0">
            <a:spAutoFit/>
          </a:bodyPr>
          <a:lstStyle/>
          <a:p>
            <a:pPr algn="ctr"/>
            <a:r>
              <a:rPr lang="en-US" sz="1400" dirty="0">
                <a:highlight>
                  <a:srgbClr val="FFFF00"/>
                </a:highlight>
              </a:rPr>
              <a:t>Post Breach response like marking the device non-compliant and isolating it from the network</a:t>
            </a:r>
            <a:endParaRPr lang="en-IN" sz="1400" dirty="0">
              <a:highlight>
                <a:srgbClr val="FFFF00"/>
              </a:highlight>
            </a:endParaRPr>
          </a:p>
        </p:txBody>
      </p:sp>
    </p:spTree>
    <p:extLst>
      <p:ext uri="{BB962C8B-B14F-4D97-AF65-F5344CB8AC3E}">
        <p14:creationId xmlns:p14="http://schemas.microsoft.com/office/powerpoint/2010/main" val="912569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651</Words>
  <Application>Microsoft Office PowerPoint</Application>
  <PresentationFormat>Widescreen</PresentationFormat>
  <Paragraphs>51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Microsoft Intune</vt:lpstr>
      <vt:lpstr>PowerPoint Presentation</vt:lpstr>
      <vt:lpstr>Why Endpoint/Device Protection?</vt:lpstr>
      <vt:lpstr>PowerPoint Presentation</vt:lpstr>
      <vt:lpstr>PowerPoint Presentation</vt:lpstr>
      <vt:lpstr>(MAM + MDM) by Microsoft = Intune</vt:lpstr>
      <vt:lpstr>PowerPoint Presentation</vt:lpstr>
      <vt:lpstr>Key Features of Microsoft Intune</vt:lpstr>
      <vt:lpstr>Device Enrollment</vt:lpstr>
      <vt:lpstr>Device Compliance</vt:lpstr>
      <vt:lpstr>Configuration Policies</vt:lpstr>
      <vt:lpstr>App Protection Policies</vt:lpstr>
      <vt:lpstr>Conditional Access Policies</vt:lpstr>
      <vt:lpstr>PowerPoint Presentation</vt:lpstr>
      <vt:lpstr>Endpoint Security with Intune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2024-12-10T19:26:10Z</dcterms:created>
  <dcterms:modified xsi:type="dcterms:W3CDTF">2024-12-10T20:32:48Z</dcterms:modified>
</cp:coreProperties>
</file>